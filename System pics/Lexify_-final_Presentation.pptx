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84" r:id="rId9"/>
    <p:sldId id="286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5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Algerian" panose="04020705040A02060702" pitchFamily="82" charset="0"/>
      <p:regular r:id="rId29"/>
    </p:embeddedFont>
    <p:embeddedFont>
      <p:font typeface="EB Garamond" panose="00000500000000000000" pitchFamily="2" charset="0"/>
      <p:regular r:id="rId30"/>
      <p:bold r:id="rId31"/>
      <p:italic r:id="rId32"/>
      <p:boldItalic r:id="rId33"/>
    </p:embeddedFont>
    <p:embeddedFont>
      <p:font typeface="Gill Sans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cf8cd48a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cf8cd48ab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7cf8cd48ab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6B804D4E-9D58-A5A7-3824-D3F75B9B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cf8cd48ab_0_6:notes">
            <a:extLst>
              <a:ext uri="{FF2B5EF4-FFF2-40B4-BE49-F238E27FC236}">
                <a16:creationId xmlns:a16="http://schemas.microsoft.com/office/drawing/2014/main" id="{7E5B36FD-48D4-48D9-FAC4-8A1D516EC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cf8cd48ab_0_6:notes">
            <a:extLst>
              <a:ext uri="{FF2B5EF4-FFF2-40B4-BE49-F238E27FC236}">
                <a16:creationId xmlns:a16="http://schemas.microsoft.com/office/drawing/2014/main" id="{D407D5AA-2D83-46A3-8AC4-50F21BC69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7cf8cd48ab_0_6:notes">
            <a:extLst>
              <a:ext uri="{FF2B5EF4-FFF2-40B4-BE49-F238E27FC236}">
                <a16:creationId xmlns:a16="http://schemas.microsoft.com/office/drawing/2014/main" id="{B73D2B4F-CFC0-B99E-B1F6-5C15C16A80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9888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cf8cd48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7cf8cd48a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7cf8cd48a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5c4d2802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5c4d28020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385c4d28020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2" name="Google Shape;3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5c4d28020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85c4d2802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ce78148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ce78148f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7ce78148f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7ce78148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7ce78148f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7ce78148f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ce78148f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7ce78148fd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7ce78148fd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cf8cd48a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7cf8cd48ab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7cf8cd48ab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w="317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5866"/>
            <a:ext cx="1902117" cy="190821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/>
        </p:nvSpPr>
        <p:spPr>
          <a:xfrm>
            <a:off x="1666240" y="271729"/>
            <a:ext cx="10289883" cy="163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r>
              <a:rPr lang="en-US" sz="2133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Jawahar Education Society’s</a:t>
            </a:r>
            <a:br>
              <a:rPr lang="en-US" sz="6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67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C. Patil College Of Engineering, Kharghar</a:t>
            </a:r>
            <a:br>
              <a:rPr lang="en-US" sz="4267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 Of Artificial Intelligence And Data Science</a:t>
            </a:r>
            <a:endParaRPr sz="293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5"/>
          <p:cNvSpPr txBox="1"/>
          <p:nvPr/>
        </p:nvSpPr>
        <p:spPr>
          <a:xfrm>
            <a:off x="248194" y="2249266"/>
            <a:ext cx="11012963" cy="62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en-US" sz="3334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</a:t>
            </a:r>
            <a:r>
              <a:rPr lang="en-US" sz="3334">
                <a:latin typeface="Times New Roman"/>
                <a:ea typeface="Times New Roman"/>
                <a:cs typeface="Times New Roman"/>
                <a:sym typeface="Times New Roman"/>
              </a:rPr>
              <a:t>Second </a:t>
            </a:r>
            <a:r>
              <a:rPr lang="en-US" sz="3334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Presentation.</a:t>
            </a:r>
            <a:endParaRPr sz="3334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685749" y="5105400"/>
            <a:ext cx="10540772" cy="12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AMRUTA GOLE – 61</a:t>
            </a:r>
            <a:endParaRPr sz="2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ISHITA MORE – 34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GAURESH CHAUDHARI - 63</a:t>
            </a:r>
            <a:endParaRPr sz="2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cxnSp>
        <p:nvCxnSpPr>
          <p:cNvPr id="232" name="Google Shape;232;p35"/>
          <p:cNvCxnSpPr/>
          <p:nvPr/>
        </p:nvCxnSpPr>
        <p:spPr>
          <a:xfrm>
            <a:off x="0" y="206465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3" name="Google Shape;233;p35"/>
          <p:cNvSpPr txBox="1"/>
          <p:nvPr/>
        </p:nvSpPr>
        <p:spPr>
          <a:xfrm>
            <a:off x="951058" y="3056881"/>
            <a:ext cx="971392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Lexify: AI Powered Reading Aid for Dyslexic Users</a:t>
            </a:r>
            <a:endParaRPr sz="3200" b="0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3152139" y="4043670"/>
            <a:ext cx="731808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 Prof S. B. Pingale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/>
        </p:nvSpPr>
        <p:spPr>
          <a:xfrm>
            <a:off x="357188" y="739497"/>
            <a:ext cx="6443662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Introduction:-</a:t>
            </a:r>
            <a:endParaRPr sz="47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0" name="Google Shape;240;p36"/>
          <p:cNvSpPr txBox="1"/>
          <p:nvPr/>
        </p:nvSpPr>
        <p:spPr>
          <a:xfrm>
            <a:off x="357188" y="1294983"/>
            <a:ext cx="109156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509588" y="1447383"/>
            <a:ext cx="109156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2" name="Google Shape;242;p36"/>
          <p:cNvSpPr txBox="1"/>
          <p:nvPr/>
        </p:nvSpPr>
        <p:spPr>
          <a:xfrm>
            <a:off x="661988" y="1599783"/>
            <a:ext cx="109156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3" name="Google Shape;243;p36"/>
          <p:cNvSpPr txBox="1"/>
          <p:nvPr/>
        </p:nvSpPr>
        <p:spPr>
          <a:xfrm>
            <a:off x="814388" y="1752183"/>
            <a:ext cx="109156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966788" y="1904583"/>
            <a:ext cx="109156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461962" y="1708993"/>
            <a:ext cx="11268076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Dyslexia is a reading disorder affecting 10%-20% of people worldwide.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makes it hard to read, write, and understand text, even for intellectual  students.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with dyslexia face problems like slow reading, confusing letters and words, difficulty understanding long sentences, and low confidence in studies.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aims to develop an AI-powered text simplification and read-aloud tool to make reading and learning easier and more accessible for them.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8500" y="413000"/>
            <a:ext cx="7113826" cy="25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9425" y="3553163"/>
            <a:ext cx="6773126" cy="26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/>
        </p:nvSpPr>
        <p:spPr>
          <a:xfrm>
            <a:off x="480018" y="382564"/>
            <a:ext cx="3843338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Motivation</a:t>
            </a:r>
            <a:endParaRPr sz="47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257" name="Google Shape;257;p38"/>
          <p:cNvSpPr txBox="1"/>
          <p:nvPr/>
        </p:nvSpPr>
        <p:spPr>
          <a:xfrm>
            <a:off x="214313" y="1244880"/>
            <a:ext cx="109728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students with dyslexia struggle to read textbooks and online content, affecting their learning. They are feared by seeing many sentence and difficult words together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support methods like special classes or therapy are costly and not easily available to everyone.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can simplify difficult text and read it aloud, making it easier for dyslexic readers to understand and learn independently.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such a tool will help them gain confidence, improve their education, and manage daily reading tasks easily.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/>
        </p:nvSpPr>
        <p:spPr>
          <a:xfrm>
            <a:off x="434307" y="564622"/>
            <a:ext cx="3377380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Objective</a:t>
            </a:r>
            <a:endParaRPr sz="47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263" name="Google Shape;263;p39"/>
          <p:cNvSpPr/>
          <p:nvPr/>
        </p:nvSpPr>
        <p:spPr>
          <a:xfrm>
            <a:off x="294967" y="1466125"/>
            <a:ext cx="11307097" cy="445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develop an AI-based software that simplifies complex textual content for dyslexic users.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 read-aloud feature that assists dyslexic readers in understanding educational and daily reading materials.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enhance reading confidence and learning outcomes for dyslexic individuals through accessible technology.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user-friendly and efficient tool that supports inclusivity in education and daily life for people with reading difficulties.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/>
        </p:nvSpPr>
        <p:spPr>
          <a:xfrm>
            <a:off x="0" y="0"/>
            <a:ext cx="5943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62626"/>
                </a:solidFill>
                <a:latin typeface="Algerian"/>
                <a:ea typeface="Algerian"/>
                <a:cs typeface="Algerian"/>
                <a:sym typeface="Algerian"/>
              </a:rPr>
              <a:t>literature Survey </a:t>
            </a:r>
            <a:endParaRPr sz="3600">
              <a:solidFill>
                <a:srgbClr val="262626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415350" y="793650"/>
            <a:ext cx="115209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40"/>
          <p:cNvSpPr txBox="1"/>
          <p:nvPr/>
        </p:nvSpPr>
        <p:spPr>
          <a:xfrm>
            <a:off x="167148" y="793650"/>
            <a:ext cx="11689302" cy="581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228B24-7D72-E780-C032-ABD6A8BAD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481431"/>
              </p:ext>
            </p:extLst>
          </p:nvPr>
        </p:nvGraphicFramePr>
        <p:xfrm>
          <a:off x="415350" y="923237"/>
          <a:ext cx="10808928" cy="4939253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801488">
                  <a:extLst>
                    <a:ext uri="{9D8B030D-6E8A-4147-A177-3AD203B41FA5}">
                      <a16:colId xmlns:a16="http://schemas.microsoft.com/office/drawing/2014/main" val="875795967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3452774787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295153100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656751445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383894218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540341954"/>
                    </a:ext>
                  </a:extLst>
                </a:gridCol>
              </a:tblGrid>
              <a:tr h="669589">
                <a:tc>
                  <a:txBody>
                    <a:bodyPr/>
                    <a:lstStyle/>
                    <a:p>
                      <a:r>
                        <a:rPr lang="en-US" dirty="0"/>
                        <a:t>Tittle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Strength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3112314"/>
                  </a:ext>
                </a:extLst>
              </a:tr>
              <a:tr h="1242063">
                <a:tc>
                  <a:txBody>
                    <a:bodyPr/>
                    <a:lstStyle/>
                    <a:p>
                      <a:r>
                        <a:rPr lang="en-US" dirty="0"/>
                        <a:t>1) Let AI Read First: Enhancing Reading Abilities for Individuals with Dyslexia through AI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 Zhao, S.C. Xiong, B. Pang, X. Tang, P. He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 Embedding-based LLM that generates simplified text annotations.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AI-assisted reading annotations improve comprehension; evaluated on real dyslexic participants; scalable approach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internet and large LLM, high computational cost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6081095"/>
                  </a:ext>
                </a:extLst>
              </a:tr>
              <a:tr h="1342352">
                <a:tc>
                  <a:txBody>
                    <a:bodyPr/>
                    <a:lstStyle/>
                    <a:p>
                      <a:r>
                        <a:rPr lang="en-US" dirty="0"/>
                        <a:t>2) Use of Recommendation Models to Provide Support to Dyslexic Students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G. </a:t>
                      </a:r>
                      <a:r>
                        <a:rPr lang="en-IN" dirty="0" err="1"/>
                        <a:t>Morciano</a:t>
                      </a:r>
                      <a:r>
                        <a:rPr lang="en-IN" dirty="0"/>
                        <a:t>, J.M. Alcalde-</a:t>
                      </a:r>
                      <a:r>
                        <a:rPr lang="en-IN" dirty="0" err="1"/>
                        <a:t>Llergo</a:t>
                      </a:r>
                      <a:r>
                        <a:rPr lang="en-IN" dirty="0"/>
                        <a:t>, A. </a:t>
                      </a:r>
                      <a:r>
                        <a:rPr lang="en-IN" dirty="0" err="1"/>
                        <a:t>Zingoni</a:t>
                      </a:r>
                      <a:r>
                        <a:rPr lang="en-IN" dirty="0"/>
                        <a:t>, E. </a:t>
                      </a:r>
                      <a:r>
                        <a:rPr lang="en-IN" dirty="0" err="1"/>
                        <a:t>Yeguas</a:t>
                      </a:r>
                      <a:r>
                        <a:rPr lang="en-IN" dirty="0"/>
                        <a:t>-Bolívar, J. Taborri, G. </a:t>
                      </a:r>
                      <a:r>
                        <a:rPr lang="en-IN" dirty="0" err="1"/>
                        <a:t>Calabrò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User-based, item-based, and hybrid recommendation algorithms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Personalizes learning aids; improves engagement; data-driven adaptation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large user data; focuses on tool recommendation, not content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6537588"/>
                  </a:ext>
                </a:extLst>
              </a:tr>
              <a:tr h="1342352">
                <a:tc>
                  <a:txBody>
                    <a:bodyPr/>
                    <a:lstStyle/>
                    <a:p>
                      <a:r>
                        <a:rPr lang="en-US" dirty="0"/>
                        <a:t>3) A Review of Artificial Intelligence-Based Dyslexia Detection Techniques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Y. </a:t>
                      </a:r>
                      <a:r>
                        <a:rPr lang="en-IN" dirty="0" err="1"/>
                        <a:t>Alkhurayyif</a:t>
                      </a:r>
                      <a:r>
                        <a:rPr lang="en-IN" dirty="0"/>
                        <a:t>, A.R.W. Sait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 of ML and DL models (CNN, SVM, Random Forest, etc.)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Comprehensive AI overview; highlights datasets and accuracy ranges; identifies gaps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new model; focused on detection, not reading support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79344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AE8430D0-73AC-BF9D-D411-9C0A74B1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>
            <a:extLst>
              <a:ext uri="{FF2B5EF4-FFF2-40B4-BE49-F238E27FC236}">
                <a16:creationId xmlns:a16="http://schemas.microsoft.com/office/drawing/2014/main" id="{CB00506F-B9FB-6775-4DD0-7B5E497A8301}"/>
              </a:ext>
            </a:extLst>
          </p:cNvPr>
          <p:cNvSpPr txBox="1"/>
          <p:nvPr/>
        </p:nvSpPr>
        <p:spPr>
          <a:xfrm>
            <a:off x="0" y="0"/>
            <a:ext cx="5943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62626"/>
                </a:solidFill>
                <a:latin typeface="Algerian"/>
                <a:ea typeface="Algerian"/>
                <a:cs typeface="Algerian"/>
                <a:sym typeface="Algerian"/>
              </a:rPr>
              <a:t>literature Survey </a:t>
            </a:r>
            <a:endParaRPr sz="3600">
              <a:solidFill>
                <a:srgbClr val="262626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70" name="Google Shape;270;p40">
            <a:extLst>
              <a:ext uri="{FF2B5EF4-FFF2-40B4-BE49-F238E27FC236}">
                <a16:creationId xmlns:a16="http://schemas.microsoft.com/office/drawing/2014/main" id="{375A7909-D919-92BB-930C-48A2FE6D9845}"/>
              </a:ext>
            </a:extLst>
          </p:cNvPr>
          <p:cNvSpPr txBox="1"/>
          <p:nvPr/>
        </p:nvSpPr>
        <p:spPr>
          <a:xfrm>
            <a:off x="415350" y="793650"/>
            <a:ext cx="115209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40">
            <a:extLst>
              <a:ext uri="{FF2B5EF4-FFF2-40B4-BE49-F238E27FC236}">
                <a16:creationId xmlns:a16="http://schemas.microsoft.com/office/drawing/2014/main" id="{B57E6B0A-B0A5-53E2-A82E-A9416936F224}"/>
              </a:ext>
            </a:extLst>
          </p:cNvPr>
          <p:cNvSpPr txBox="1"/>
          <p:nvPr/>
        </p:nvSpPr>
        <p:spPr>
          <a:xfrm>
            <a:off x="167148" y="793650"/>
            <a:ext cx="11689302" cy="581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9A7533-BACC-BFDC-50E7-CD7EDAF66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349935"/>
              </p:ext>
            </p:extLst>
          </p:nvPr>
        </p:nvGraphicFramePr>
        <p:xfrm>
          <a:off x="415350" y="923237"/>
          <a:ext cx="10808928" cy="521110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801488">
                  <a:extLst>
                    <a:ext uri="{9D8B030D-6E8A-4147-A177-3AD203B41FA5}">
                      <a16:colId xmlns:a16="http://schemas.microsoft.com/office/drawing/2014/main" val="875795967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3452774787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295153100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656751445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383894218"/>
                    </a:ext>
                  </a:extLst>
                </a:gridCol>
                <a:gridCol w="1801488">
                  <a:extLst>
                    <a:ext uri="{9D8B030D-6E8A-4147-A177-3AD203B41FA5}">
                      <a16:colId xmlns:a16="http://schemas.microsoft.com/office/drawing/2014/main" val="2540341954"/>
                    </a:ext>
                  </a:extLst>
                </a:gridCol>
              </a:tblGrid>
              <a:tr h="669589">
                <a:tc>
                  <a:txBody>
                    <a:bodyPr/>
                    <a:lstStyle/>
                    <a:p>
                      <a:r>
                        <a:rPr lang="en-US" dirty="0"/>
                        <a:t>Tittle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Strength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3112314"/>
                  </a:ext>
                </a:extLst>
              </a:tr>
              <a:tr h="1242063">
                <a:tc>
                  <a:txBody>
                    <a:bodyPr/>
                    <a:lstStyle/>
                    <a:p>
                      <a:r>
                        <a:rPr lang="en-US" b="0" dirty="0"/>
                        <a:t>4) AI-Enhanced Child Handwriting Analysis: A Framework for Early Screening of Dyslexia and Dysgraphia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M.K. Bhatt, N.R. Patel, P.K. Raval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 + ML-based handwriting feature extraction and pattern analysis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Novel handwriting-based detection; combines motor and linguistic cues; early diagnosis potential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 limited to children; not focused on reading/writing assistance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6081095"/>
                  </a:ext>
                </a:extLst>
              </a:tr>
              <a:tr h="1342352">
                <a:tc>
                  <a:txBody>
                    <a:bodyPr/>
                    <a:lstStyle/>
                    <a:p>
                      <a:r>
                        <a:rPr lang="en-US" dirty="0"/>
                        <a:t>5) Towards Inclusive Reading: A Neural Text Generation Framework for Dyslexia Accessibility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E. </a:t>
                      </a:r>
                      <a:r>
                        <a:rPr lang="en-IN" dirty="0" err="1"/>
                        <a:t>Madjidi</a:t>
                      </a:r>
                      <a:r>
                        <a:rPr lang="en-IN" dirty="0"/>
                        <a:t>, C. Crick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 embedding fine-tuned for text simplification, phonetic segmentation, and accessible text generation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Directly generates accessible English text; improves comprehension; linguistic + neural approach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user group ; English-only model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6537588"/>
                  </a:ext>
                </a:extLst>
              </a:tr>
              <a:tr h="1342352">
                <a:tc>
                  <a:txBody>
                    <a:bodyPr/>
                    <a:lstStyle/>
                    <a:p>
                      <a:r>
                        <a:rPr lang="en-US" dirty="0"/>
                        <a:t>6) </a:t>
                      </a:r>
                      <a:r>
                        <a:rPr lang="en-IN" dirty="0" err="1"/>
                        <a:t>SimpLex</a:t>
                      </a:r>
                      <a:r>
                        <a:rPr lang="en-IN" dirty="0"/>
                        <a:t>: A Lexical Text Simplification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C.-O. Truică, A.-I. Stan, E.-S. Apostol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 Embedding (Word2Vec) and Transformer-based (BERT, </a:t>
                      </a:r>
                      <a:r>
                        <a:rPr lang="en-US" dirty="0" err="1"/>
                        <a:t>RoBERTa</a:t>
                      </a:r>
                      <a:r>
                        <a:rPr lang="en-US" dirty="0"/>
                        <a:t>, GPT-2) simplification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Modular design; supports both lightweight and advanced approaches; high simplification quality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dyslexic user testing; focused on lexical simplification only; high computational need for transformer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793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740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8CB7D1E-0BAF-4976-423C-1D513AFD1D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6310" y="933609"/>
            <a:ext cx="11759380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Most studies focused on dyslexia detection and classification, not on real-time reading support.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like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SimpLex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Neural Text Generation Framework simplified text but missed personalization, speech output, and adaptive UI.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High computational demand and internet dependency limited practical usability of earlier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Recommendation-based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sytems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engagement but didn’t simplify reading material itself.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Few systems offered dyslexia-friendly fonts, spacing control, or auditory feedback.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Lexify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bridges these gaps by integrating transformer-based simplification, text-to-speech, and a customizable, user-friendly interface for complete reading support.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58439-4382-09C8-60D3-C4844718C95E}"/>
              </a:ext>
            </a:extLst>
          </p:cNvPr>
          <p:cNvSpPr txBox="1"/>
          <p:nvPr/>
        </p:nvSpPr>
        <p:spPr>
          <a:xfrm>
            <a:off x="255638" y="252747"/>
            <a:ext cx="5358581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Review</a:t>
            </a:r>
            <a:endParaRPr lang="en-IN"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86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/>
          <p:nvPr/>
        </p:nvSpPr>
        <p:spPr>
          <a:xfrm>
            <a:off x="350975" y="128018"/>
            <a:ext cx="9349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262626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Research Gap</a:t>
            </a:r>
            <a:endParaRPr sz="4400" dirty="0">
              <a:solidFill>
                <a:srgbClr val="262626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465425" y="1433775"/>
            <a:ext cx="10812900" cy="4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9" name="Google Shape;299;p44"/>
          <p:cNvSpPr txBox="1"/>
          <p:nvPr/>
        </p:nvSpPr>
        <p:spPr>
          <a:xfrm>
            <a:off x="259475" y="767906"/>
            <a:ext cx="10881300" cy="48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Current tools are not made for dyslexic readers.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Lexify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fix: It will simplify text in a dyslexia-friendly way (shorter sentences, simpler words, clearer structure).</a:t>
            </a:r>
            <a:b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4"/>
          <p:cNvSpPr txBox="1"/>
          <p:nvPr/>
        </p:nvSpPr>
        <p:spPr>
          <a:xfrm>
            <a:off x="362450" y="2144884"/>
            <a:ext cx="10492800" cy="249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Tools do only one job.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Lexify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fix: Combines simplify + read aloud + personalization in one app.</a:t>
            </a:r>
            <a:b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4"/>
          <p:cNvSpPr txBox="1"/>
          <p:nvPr/>
        </p:nvSpPr>
        <p:spPr>
          <a:xfrm>
            <a:off x="350975" y="3213956"/>
            <a:ext cx="10789800" cy="292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No real-time personalization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Lexify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fix: It will adapt automatically to each user (adjust speed, font, or level of simplification).</a:t>
            </a:r>
            <a:b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4"/>
          <p:cNvSpPr txBox="1"/>
          <p:nvPr/>
        </p:nvSpPr>
        <p:spPr>
          <a:xfrm>
            <a:off x="374000" y="4917000"/>
            <a:ext cx="10149900" cy="2505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4) Fixed reading speed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Lexify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fix: Allows adaptive speed control (slows down on complex words, speeds up on simple parts).</a:t>
            </a:r>
            <a:b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/>
        </p:nvSpPr>
        <p:spPr>
          <a:xfrm>
            <a:off x="480875" y="389150"/>
            <a:ext cx="100938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 dirty="0">
                <a:solidFill>
                  <a:srgbClr val="262626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Research Objective</a:t>
            </a:r>
            <a:endParaRPr sz="4700" dirty="0">
              <a:solidFill>
                <a:srgbClr val="262626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09" name="Google Shape;309;p45"/>
          <p:cNvSpPr txBox="1"/>
          <p:nvPr/>
        </p:nvSpPr>
        <p:spPr>
          <a:xfrm>
            <a:off x="480875" y="1374575"/>
            <a:ext cx="10453500" cy="50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text simplification system that can automatically convert complex English paragraphs into simpler, dyslexia-friendly text without losing meaning.</a:t>
            </a:r>
            <a:b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 personalized text-to-speech (TTS) module enabling users to listen to simplified text in real time with adjustable voice speed and tone.</a:t>
            </a:r>
            <a:b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 dyslexia-friendly user interface that uses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OpenDyslexic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font, spacious layout, and customizable color themes to enhance readability.</a:t>
            </a:r>
            <a:b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contribute toward accessible AI applications that improve reading comprehension and inclusivity for individuals with learning differences.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62626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/>
          <p:nvPr/>
        </p:nvSpPr>
        <p:spPr>
          <a:xfrm>
            <a:off x="815241" y="806924"/>
            <a:ext cx="4943475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Problem  statement </a:t>
            </a:r>
            <a:endParaRPr sz="47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15" name="Google Shape;315;p46"/>
          <p:cNvSpPr txBox="1"/>
          <p:nvPr/>
        </p:nvSpPr>
        <p:spPr>
          <a:xfrm>
            <a:off x="1019957" y="2714109"/>
            <a:ext cx="10129837" cy="16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Dyslexic readers face difficulty in understanding complex texts, and existing tools do not provide both text simplification and read-aloud features together. There is a need for a simple AI tool to make reading and learning easier for them.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/>
        </p:nvSpPr>
        <p:spPr>
          <a:xfrm>
            <a:off x="466935" y="597187"/>
            <a:ext cx="10795500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7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Proposed System</a:t>
            </a:r>
            <a:endParaRPr sz="47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21" name="Google Shape;321;p47"/>
          <p:cNvSpPr txBox="1"/>
          <p:nvPr/>
        </p:nvSpPr>
        <p:spPr>
          <a:xfrm>
            <a:off x="381000" y="1371600"/>
            <a:ext cx="11353800" cy="5447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19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Login &amp; Access Control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will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loged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his/her account and can access their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personalised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settings. </a:t>
            </a:r>
            <a:endParaRPr sz="20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Input &amp; Preprocessing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Backend part. Input may be pasted text, uploaded documents, or web content.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steps include tokenization, lemmatization, POS tagging, and sentence segmentation.</a:t>
            </a:r>
            <a:endParaRPr sz="20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Prediction (Backend): </a:t>
            </a:r>
            <a:r>
              <a:rPr lang="en-US" sz="2000" dirty="0"/>
              <a:t>Detects difficult or complex words for readers. </a:t>
            </a:r>
          </a:p>
          <a:p>
            <a:pPr marL="76200" lvl="0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Complexity will be seen by factors like length of word, syllabic complexity, Semantic Complexity.</a:t>
            </a:r>
          </a:p>
          <a:p>
            <a:pPr marL="76200" lvl="0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Algorithm used: </a:t>
            </a:r>
            <a:r>
              <a:rPr lang="en-IN" sz="2000" dirty="0" err="1"/>
              <a:t>DistilBERT</a:t>
            </a:r>
            <a:r>
              <a:rPr lang="en-IN" sz="2000" dirty="0"/>
              <a:t> (fine-tuned transformer)</a:t>
            </a: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>
              <a:lnSpc>
                <a:spcPct val="200000"/>
              </a:lnSpc>
              <a:buClr>
                <a:schemeClr val="dk1"/>
              </a:buClr>
              <a:buSzPts val="2400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 txBox="1">
            <a:spLocks noGrp="1"/>
          </p:cNvSpPr>
          <p:nvPr>
            <p:ph type="body" idx="1"/>
          </p:nvPr>
        </p:nvSpPr>
        <p:spPr>
          <a:xfrm>
            <a:off x="264850" y="152400"/>
            <a:ext cx="11375400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1950" lvl="0" indent="-2857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Text Simplification Engine: </a:t>
            </a:r>
            <a:endParaRPr dirty="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Synonym Generation: Candidate simpler words are generated using WordNet and transformer language models.</a:t>
            </a:r>
            <a:endParaRPr dirty="0"/>
          </a:p>
          <a:p>
            <a:pPr marL="0" lvl="0" indent="0">
              <a:lnSpc>
                <a:spcPct val="170000"/>
              </a:lnSpc>
              <a:buClr>
                <a:schemeClr val="dk1"/>
              </a:buClr>
              <a:buSzPts val="288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Synonym Selection: Candidates are ranked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Readability Score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70000"/>
              </a:lnSpc>
              <a:buClr>
                <a:schemeClr val="dk1"/>
              </a:buClr>
              <a:buSzPts val="288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Sentence Generation &amp; Ranking: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(Text-to-Text Transfer Transformer).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can paraphrase and rebuild the whole sentence while preserving meaning.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61950" lvl="0" indent="-2857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Accessibility &amp; Personalization:</a:t>
            </a:r>
            <a:endParaRPr dirty="0"/>
          </a:p>
          <a:p>
            <a:pPr marL="7620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simplified text is displayed in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OpenDyslexic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font, with adjustable spacing and background color schemes chosen by the user.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lvl="0" indent="-2857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Text-to-Speech Module</a:t>
            </a: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/>
        </p:nvSpPr>
        <p:spPr>
          <a:xfrm>
            <a:off x="453635" y="357487"/>
            <a:ext cx="10795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Architecture</a:t>
            </a:r>
            <a:endParaRPr sz="3600" i="0" u="none" strike="noStrike" cap="non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58E58-537C-8708-F8CF-DCBDBB48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3" y="1809524"/>
            <a:ext cx="11279174" cy="3238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/>
        </p:nvSpPr>
        <p:spPr>
          <a:xfrm>
            <a:off x="508549" y="457200"/>
            <a:ext cx="7963500" cy="153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System Design (Modules)</a:t>
            </a:r>
            <a:endParaRPr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47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361479" y="1532400"/>
            <a:ext cx="108978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1: Text Preprocessing:  Tokenization, lemmatization, POS tagging.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Complexity Predictor:   Classifies words into complex vs simple.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3: Synonym Generator:  Generates alternative simpler words.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4: Synonym Selection :  Chooses best candidate based on semantic similarity + frequency.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5: Sentence Simplification:  Replaces words and ranks sentences.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6: Presentation Layer:  Applies dyslexia-friendly design.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7: Text-to-Speech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5DE512-16B1-E655-9245-F7736DB92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36" y="855406"/>
            <a:ext cx="9583091" cy="491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96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>
            <a:spLocks noGrp="1"/>
          </p:cNvSpPr>
          <p:nvPr>
            <p:ph type="body" idx="1"/>
          </p:nvPr>
        </p:nvSpPr>
        <p:spPr>
          <a:xfrm>
            <a:off x="299414" y="1145232"/>
            <a:ext cx="97536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1. Input &amp; Preprocessing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Tokenization → NLTK /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SpaCy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Lemmatization &amp; POS tagging →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SpaCy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Sentence splitting → NLTK/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SpaCy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2. Complexity Prediction (Finding “hard words”)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Fine tuning using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DistilBert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3. Synonym Generation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0">
              <a:lnSpc>
                <a:spcPct val="150000"/>
              </a:lnSpc>
              <a:buNone/>
            </a:pPr>
            <a:r>
              <a:rPr lang="en-IN" sz="2400" dirty="0">
                <a:latin typeface=" times news roman"/>
              </a:rPr>
              <a:t>WordNet + BERT contextual filtering</a:t>
            </a:r>
            <a:endParaRPr sz="2400" dirty="0">
              <a:latin typeface=" times news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52"/>
          <p:cNvSpPr txBox="1"/>
          <p:nvPr/>
        </p:nvSpPr>
        <p:spPr>
          <a:xfrm>
            <a:off x="595184" y="498732"/>
            <a:ext cx="3062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Algorithms</a:t>
            </a:r>
            <a:endParaRPr sz="360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>
            <a:spLocks noGrp="1"/>
          </p:cNvSpPr>
          <p:nvPr>
            <p:ph type="body" idx="1"/>
          </p:nvPr>
        </p:nvSpPr>
        <p:spPr>
          <a:xfrm>
            <a:off x="249753" y="338503"/>
            <a:ext cx="112776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4. Synonym Selection (Choosing the best candidate):</a:t>
            </a:r>
          </a:p>
          <a:p>
            <a:pPr marL="114300" lvl="0" indent="0"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/>
              <a:t>Chooses the </a:t>
            </a:r>
            <a:r>
              <a:rPr lang="en-US" sz="2400" i="1" dirty="0"/>
              <a:t>best possible</a:t>
            </a:r>
            <a:r>
              <a:rPr lang="en-US" sz="2400" dirty="0"/>
              <a:t> synonym  among candidates.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Algorithm: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SentenceTransformerand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Readability Score.</a:t>
            </a:r>
          </a:p>
          <a:p>
            <a:pPr marL="114300" lvl="0" indent="0"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5. Candidate Sentence Generation: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Replace complex word with candidate synonyms.</a:t>
            </a:r>
          </a:p>
          <a:p>
            <a:pPr marL="114300" lv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Algorithm Used: T5 (Text-to-Text Transfer Transformer)</a:t>
            </a: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6. Sentence Ranking (Selecting the final version)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multiple simplified outputs and picks the best</a:t>
            </a: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 marL="114300" lv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considers both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fluency</a:t>
            </a:r>
            <a:r>
              <a:rPr lang="en-US" sz="2400" dirty="0"/>
              <a:t>.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4"/>
          <p:cNvSpPr txBox="1">
            <a:spLocks noGrp="1"/>
          </p:cNvSpPr>
          <p:nvPr>
            <p:ph type="body" idx="1"/>
          </p:nvPr>
        </p:nvSpPr>
        <p:spPr>
          <a:xfrm>
            <a:off x="429938" y="884345"/>
            <a:ext cx="9199563" cy="49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7. Presentation Layer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Formatting: </a:t>
            </a:r>
            <a:r>
              <a:rPr lang="en-US" sz="20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OpenDyslexic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font, custom color scheme, extra spacing.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Text-to-Speech: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Lightweight → </a:t>
            </a:r>
            <a:r>
              <a:rPr lang="en-US" sz="20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gTTS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(Google Text-to-Speech).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8. Evaluation: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a SARI score of ~38–42, showing good simplification quality but limited contextual fluency.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Lexify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T5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aiming for SARI 45+ with higher semantic retention and readability.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adding context-aware simplification, speech output, and personalized interface,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Lexify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both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5"/>
          <p:cNvSpPr txBox="1"/>
          <p:nvPr/>
        </p:nvSpPr>
        <p:spPr>
          <a:xfrm>
            <a:off x="375800" y="404375"/>
            <a:ext cx="105858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>
                <a:solidFill>
                  <a:srgbClr val="262626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Dataset</a:t>
            </a:r>
            <a:endParaRPr sz="4700" dirty="0">
              <a:solidFill>
                <a:srgbClr val="262626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67" name="Google Shape;367;p55"/>
          <p:cNvSpPr txBox="1"/>
          <p:nvPr/>
        </p:nvSpPr>
        <p:spPr>
          <a:xfrm>
            <a:off x="527350" y="1421825"/>
            <a:ext cx="11127000" cy="49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For Word Complexity Prediction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Use: CWIG3G2 dataset(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Wikipedia,newsarticle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For Sentence / Paragraph Simplification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Use: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WikiLarge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Dataset : Biography / Educational Articles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For Evaluation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Use: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WikiNet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test split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6"/>
          <p:cNvSpPr txBox="1"/>
          <p:nvPr/>
        </p:nvSpPr>
        <p:spPr>
          <a:xfrm>
            <a:off x="245925" y="318650"/>
            <a:ext cx="86373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>
                <a:solidFill>
                  <a:srgbClr val="262626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HARDWARE &amp; SOFTWARE</a:t>
            </a:r>
            <a:endParaRPr sz="4700" dirty="0">
              <a:solidFill>
                <a:srgbClr val="262626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74" name="Google Shape;374;p56"/>
          <p:cNvSpPr txBox="1"/>
          <p:nvPr/>
        </p:nvSpPr>
        <p:spPr>
          <a:xfrm>
            <a:off x="354150" y="1408750"/>
            <a:ext cx="11040300" cy="51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Minimum Dual/Quad-Core CPU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At least 8 GB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 50 GB free space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(Optional):  NVIDIA GPU with CUDA support for fine-tuning models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Devices:  Keyboard, mouse, display, and speakers/headphones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2400" dirty="0">
              <a:solidFill>
                <a:srgbClr val="26262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"/>
          <p:cNvSpPr txBox="1"/>
          <p:nvPr/>
        </p:nvSpPr>
        <p:spPr>
          <a:xfrm>
            <a:off x="419100" y="318650"/>
            <a:ext cx="653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1" name="Google Shape;381;p57"/>
          <p:cNvSpPr txBox="1"/>
          <p:nvPr/>
        </p:nvSpPr>
        <p:spPr>
          <a:xfrm>
            <a:off x="527350" y="271500"/>
            <a:ext cx="74034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>
                <a:solidFill>
                  <a:srgbClr val="262626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SOFTWAFRE</a:t>
            </a:r>
            <a:endParaRPr sz="4700" dirty="0">
              <a:solidFill>
                <a:srgbClr val="262626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  <p:sp>
        <p:nvSpPr>
          <p:cNvPr id="382" name="Google Shape;382;p57"/>
          <p:cNvSpPr txBox="1"/>
          <p:nvPr/>
        </p:nvSpPr>
        <p:spPr>
          <a:xfrm>
            <a:off x="635575" y="1487625"/>
            <a:ext cx="10369200" cy="4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3" name="Google Shape;383;p57"/>
          <p:cNvSpPr txBox="1"/>
          <p:nvPr/>
        </p:nvSpPr>
        <p:spPr>
          <a:xfrm>
            <a:off x="513875" y="1330309"/>
            <a:ext cx="10612599" cy="619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Frameworks/Libraries: Transformers,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NLTK, WordNet,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Flask/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or Firebase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VS Code / 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and GitHub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macOS / Linux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8"/>
          <p:cNvSpPr txBox="1"/>
          <p:nvPr/>
        </p:nvSpPr>
        <p:spPr>
          <a:xfrm>
            <a:off x="954000" y="1157700"/>
            <a:ext cx="10066200" cy="7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58"/>
          <p:cNvSpPr txBox="1"/>
          <p:nvPr/>
        </p:nvSpPr>
        <p:spPr>
          <a:xfrm>
            <a:off x="886074" y="665400"/>
            <a:ext cx="3833409" cy="8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4700" b="0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4700" b="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58"/>
          <p:cNvSpPr txBox="1"/>
          <p:nvPr/>
        </p:nvSpPr>
        <p:spPr>
          <a:xfrm>
            <a:off x="1068397" y="1887600"/>
            <a:ext cx="95910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2900" b="0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not only simplifies text but improves reading fluency, vocabulary, and confidence in dyslexic users — enabling them to read and learn independently, which in turn boosts their cognitive growth. And it’s not limited to one platform — it’s a scalable solution that can be integrated into browsers, learning platforms, and even public reading apps.</a:t>
            </a:r>
            <a:endParaRPr sz="2900" b="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9"/>
          <p:cNvSpPr txBox="1"/>
          <p:nvPr/>
        </p:nvSpPr>
        <p:spPr>
          <a:xfrm>
            <a:off x="173875" y="1161500"/>
            <a:ext cx="11264700" cy="598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Zhao, S. C. Xiong, B. Pang, X. Tang, and P. He, “Let AI Read First: Enhancing Reading Abilities for Individuals with Dyslexia through Artificial Intelligence,”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arXiv:2504.00941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Morciano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M. Alcalde-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Llergo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Zingoni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Yeguas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-Bolívar, J. Taborri, and G.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Calabrò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“Use of Recommendation Models to Provide Support to Dyslexic Students,”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Alkhurayyif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R. W. Sait, “A Review of Artificial Intelligence-Based Dyslexia Detection Techniques,”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21, p. 2362, Oct. 2024.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K. Bhatt, N. R. Patel, and P. K. Raval, “AI-Enhanced Child Handwriting Analysis: A Framework for the Early Screening of Dyslexia and Dysgraphia,”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 Computer Science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3, pp. 1–13, 2025.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Madjidi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Crick, “Towards Inclusive Reading: A Neural Text Generation Framework for Dyslexia Accessibility,”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10th International Conference on Data Science and Artificial Intelligence (DSAI)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Porto, Portugal, 2024.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Parmar and C.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Paunwala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“Early Detection of Dyslexia Based on EEG with Novel Predictor Extraction and Selection,”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Processing Letters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55, pp. 1465–1482, 2023.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C.-O.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Truică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A.-I. Stan, and E.-S. Apostol,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SimpLex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Lexical Text Simplification Architecture,”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Computing and Applications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35, no. 8, pp. 6265–6280, 2023.</a:t>
            </a: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59"/>
          <p:cNvSpPr txBox="1"/>
          <p:nvPr/>
        </p:nvSpPr>
        <p:spPr>
          <a:xfrm>
            <a:off x="309613" y="180422"/>
            <a:ext cx="72177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 dirty="0">
                <a:solidFill>
                  <a:srgbClr val="262626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References</a:t>
            </a:r>
            <a:endParaRPr sz="4700" dirty="0">
              <a:solidFill>
                <a:srgbClr val="262626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0"/>
          <p:cNvSpPr txBox="1"/>
          <p:nvPr/>
        </p:nvSpPr>
        <p:spPr>
          <a:xfrm>
            <a:off x="4339988" y="2511188"/>
            <a:ext cx="698765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THANK YOU!</a:t>
            </a:r>
            <a:endParaRPr sz="5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2097</Words>
  <Application>Microsoft Office PowerPoint</Application>
  <PresentationFormat>Widescreen</PresentationFormat>
  <Paragraphs>197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 times news roman</vt:lpstr>
      <vt:lpstr>Noto Sans Symbols</vt:lpstr>
      <vt:lpstr>Times New Roman</vt:lpstr>
      <vt:lpstr>Calibri</vt:lpstr>
      <vt:lpstr>Gill Sans</vt:lpstr>
      <vt:lpstr>EB Garamond</vt:lpstr>
      <vt:lpstr>Algerian</vt:lpstr>
      <vt:lpstr>Office Theme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NSS Trust</dc:creator>
  <cp:lastModifiedBy>NSS Trust</cp:lastModifiedBy>
  <cp:revision>3</cp:revision>
  <dcterms:modified xsi:type="dcterms:W3CDTF">2026-03-31T14:18:12Z</dcterms:modified>
</cp:coreProperties>
</file>